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HOLDPOINT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0">
                <a:solidFill>
                  <a:srgbClr val="CBD5E1"/>
                </a:solidFill>
                <a:latin typeface="Segoe UI"/>
              </a:rPr>
              <a:t>The adversary at the permit gate.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429000"/>
            <a:ext cx="4937760" cy="457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94A3B8"/>
                </a:solidFill>
                <a:latin typeface="Segoe UI"/>
              </a:rPr>
              <a:t>An AI adversary that attacks a work permit BEFORE it is authorised — and refuses to let a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94A3B8"/>
                </a:solidFill>
                <a:latin typeface="Segoe UI"/>
              </a:rPr>
              <a:t>defective one through. A human always makes the actual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Leadership briefing  ·  Infosys  ·  Energy · Resources · Utilities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B91C1C"/>
                </a:solidFill>
                <a:latin typeface="Segoe UI"/>
              </a:rPr>
              <a:t>PEMEX DEER PARK REFINERY  ·  10 OCTOBER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Two contract workers opened a hydrogen sulphide line.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27,000 lb of H₂S was released. Both of them died.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88920"/>
            <a:ext cx="105156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971800"/>
            <a:ext cx="9966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0F172A"/>
                </a:solidFill>
                <a:latin typeface="Segoe UI"/>
              </a:rPr>
              <a:t>“The refinery issued a broad work permit covering multiple jobs with varying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0F172A"/>
                </a:solidFill>
                <a:latin typeface="Segoe UI"/>
              </a:rPr>
              <a:t>hazards and without clear hold points.”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0F172A"/>
                </a:solidFill>
                <a:latin typeface="Segoe UI"/>
              </a:rPr>
              <a:t>“Workers overlooked a written instruction to stop work and obtain an operator’s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0">
                <a:solidFill>
                  <a:srgbClr val="0F172A"/>
                </a:solidFill>
                <a:latin typeface="Segoe UI"/>
              </a:rPr>
              <a:t>presence before opening the hydrogen sulfide piping.”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041648"/>
            <a:ext cx="9966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US Chemical Safety Board, final report, 23 February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200" b="1">
                <a:solidFill>
                  <a:srgbClr val="B91C1C"/>
                </a:solidFill>
                <a:latin typeface="Segoe UI"/>
              </a:rPr>
              <a:t>The safeguard was already on the permit.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It was buried in prose, inside a scope covering five separate jobs, and it was read past.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This is a failure of STRUCTURE and ENFORCEMENT — not of authorship.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64748B"/>
                </a:solidFill>
                <a:latin typeface="Segoe UI"/>
              </a:rPr>
              <a:t>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What HOLDPOINT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Seven adversarial agents, in front of the authorisation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0784"/>
            <a:ext cx="11091672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A permit pack goes in — the permit, the isolation plan, the JSA, the assigned people and their competencies,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and the live state of the unit. Seven agents attack it. A recommendation comes out. A HUMAN THEN DECIDES.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23160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569464"/>
            <a:ext cx="3127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Scope Decomposer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990088"/>
            <a:ext cx="3127248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Is this one job, or five wearing a trench coat? An over-broad permit IS the Deer Park structure.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423160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569464"/>
            <a:ext cx="3127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Hazard Challenger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990088"/>
            <a:ext cx="3127248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Is that control real, or is it the word “carefully”?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2423160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2569464"/>
            <a:ext cx="3127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B91C1C"/>
                </a:solidFill>
                <a:latin typeface="Segoe UI"/>
              </a:rPr>
              <a:t>Hold Point Enforcer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990088"/>
            <a:ext cx="3127248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What safeguard is buried in the prose where nobody will see it? THE most important agent.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986784"/>
            <a:ext cx="3127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Competency Matcher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407408"/>
            <a:ext cx="3127248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Is THIS person qualified for THIS hazard? Induction is not competence.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3840480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5424" y="3986784"/>
            <a:ext cx="3127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Isolation &amp; SIMOPS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4" y="4407408"/>
            <a:ext cx="3127248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Every energy source — and what else is live on this unit right now?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3296" y="3840480"/>
            <a:ext cx="3566160" cy="1234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3986784"/>
            <a:ext cx="3127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Incident Precedent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4407408"/>
            <a:ext cx="3127248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Which historical fatal accident does this permit structurally resemble?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905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48640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1E40AF"/>
                </a:solidFill>
                <a:latin typeface="Segoe UI"/>
              </a:rPr>
              <a:t>A SUPERVISOR plans the attack, then reviews its own specialists against that plan, and recommends: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AUTHORISE  ·  HOLD WITH CONDITIONS  ·  REJECT     — advisory only. HOLDPOINT authorises nothing, 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64748B"/>
                </a:solidFill>
                <a:latin typeface="Segoe UI"/>
              </a:rPr>
              <a:t>PROBLEM  ·  INDUSTRIES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The problem, and who has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Non-routine, contractor-executed work is where people die — and it is controlled by a document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0784"/>
            <a:ext cx="11091672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91672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2743200"/>
                <a:gridCol w="1947672"/>
              </a:tblGrid>
              <a:tr h="3108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Evidence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Source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Permit “covering multiple jobs… without clear hold points”; stop-work instruction present and overlooked; 2 dead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US CSB final report, 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42 ICMM-member fatalities in 2024 — up from 36 and 33. A second consecutive rise ICMM calls “hugely troubling”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ICMM Safety Insights, Jul 2025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VERIFIED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“41% of fatal process-plant incidents occur during non-routine tasks, often undertaken by contractors”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ICMM (as above)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“Weaknesses in the permit-to-work, or in lock-out/tag-out, frequently contribute”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ICMM (as above)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VERIFIED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167 killed at Piper Alpha — a permit-to-work and shift-handover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Cullen Inquiry, 1990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160520"/>
            <a:ext cx="11091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ICMM is an industry body reporting adverse results against its own interest — the strongest class of evidence there 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57200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587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4718304"/>
            <a:ext cx="3127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66534"/>
                </a:solidFill>
                <a:latin typeface="Segoe UI"/>
              </a:rPr>
              <a:t>Refining &amp; Chemicals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138928"/>
            <a:ext cx="312724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EVIDENCED — US CSB, Deer Park.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Turnarounds concentrate non-routine 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457200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587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4718304"/>
            <a:ext cx="3127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66534"/>
                </a:solidFill>
                <a:latin typeface="Segoe UI"/>
              </a:rPr>
              <a:t>Mining &amp; Metals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5138928"/>
            <a:ext cx="312724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EVIDENCED — ICMM, against its own interest.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Contractors = 45% of 2024 fatalities.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4572000"/>
            <a:ext cx="3566160" cy="141732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587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4718304"/>
            <a:ext cx="3127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B45309"/>
                </a:solidFill>
                <a:latin typeface="Segoe UI"/>
              </a:rPr>
              <a:t>Utilities (T&amp;D)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5138928"/>
            <a:ext cx="3127248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HYPOTHESIS — NOT YET VERIFIED.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Plausible (OSHA controlling-employer, NFPA 70E) but the data was never gathered.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Services and Retail: no benefit. They do not run permit-to-work. We say so rather than claim coverage we do not have.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64748B"/>
                </a:solidFill>
                <a:latin typeface="Segoe UI"/>
              </a:rPr>
              <a:t>PAIN AREAS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The pain HOLDPOINT removes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The permit desk is simultaneously the safety chokepoint and the schedule chokepoint — they are the same queue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0784"/>
            <a:ext cx="11091672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68112" cy="1325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929384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A safeguard nobody reads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350008"/>
            <a:ext cx="502920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A stop-work instruction written into a narrative field is a sentence, not a safeguard. Under queue pressure, people read past it — and at Deer Park, two of them died doing exactly that.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783080"/>
            <a:ext cx="5468112" cy="1325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929384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The turnaround bottleneck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350008"/>
            <a:ext cx="502920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During a turnaround the permit desk issues HUNDREDS of permits a day. Crews stand idle waiting for authorisation, while authorisers under pressure are precisely the humans who miss things.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64408"/>
            <a:ext cx="5468112" cy="1325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“Inducted” treated as “competent”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831336"/>
            <a:ext cx="502920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Site induction grants access. It does not qualify anyone for a specific hazard. Nobody checks person-by-person, hazard-by-hazard — there is no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7" y="3264408"/>
            <a:ext cx="5468112" cy="1325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3410712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Nobody checks what else is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3831336"/>
            <a:ext cx="502920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A SIMOPS conflict is a statement about time. Hot work beside an open drain. Two crews isolating the same system. Text hides it; nobody has the picture.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45736"/>
            <a:ext cx="5468112" cy="1325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4892040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Rules that a document cannot answer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5312664"/>
            <a:ext cx="502920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“No sour work in darkness.” Whether that is satisfied depends on the sun — a fact that lives outside every document in the system.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7" y="4745736"/>
            <a:ext cx="5468112" cy="1325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4892040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30 years of lessons, unused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312664"/>
            <a:ext cx="502920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Every fatal accident is investigated, written up, and filed. None of it reaches the person authorising work at 6am.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64748B"/>
                </a:solidFill>
                <a:latin typeface="Segoe U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End-to-end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From the system of record, through seven agents, to a human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0784"/>
            <a:ext cx="11091672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691640" cy="201168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2996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E40A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E40AF"/>
                </a:solidFill>
                <a:latin typeface="Segoe UI"/>
              </a:rPr>
              <a:t>FETCH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1417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Read the permit out of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Enablon / SAP / Maximo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58568" y="2743200"/>
            <a:ext cx="146304" cy="201168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23160" y="1920240"/>
            <a:ext cx="1691640" cy="20116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202996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37744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NORMALISE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788920"/>
            <a:ext cx="1417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One canonical shape.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Agents never see vendor fields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133087" y="2743200"/>
            <a:ext cx="146304" cy="201168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97679" y="1920240"/>
            <a:ext cx="1691640" cy="201168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02996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66534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37744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66534"/>
                </a:solidFill>
                <a:latin typeface="Segoe UI"/>
              </a:rPr>
              <a:t>GROUND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788920"/>
            <a:ext cx="1417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Fetch REAL sun + wind for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this permit's date and site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007607" y="2743200"/>
            <a:ext cx="146304" cy="201168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72199" y="1920240"/>
            <a:ext cx="1691640" cy="201168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202996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B45309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237744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B45309"/>
                </a:solidFill>
                <a:latin typeface="Segoe UI"/>
              </a:rPr>
              <a:t>ATTACK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2788920"/>
            <a:ext cx="1417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7 agents: scope, hazards,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hold points, competency, SIMOPS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882127" y="2743200"/>
            <a:ext cx="146304" cy="201168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46719" y="1920240"/>
            <a:ext cx="1691640" cy="201168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79" y="202996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B91C1C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237744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B91C1C"/>
                </a:solidFill>
                <a:latin typeface="Segoe UI"/>
              </a:rPr>
              <a:t>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2788920"/>
            <a:ext cx="1417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Every claimed control must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quote a real procedure — checked in CODE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756647" y="2743200"/>
            <a:ext cx="146304" cy="201168"/>
          </a:xfrm>
          <a:prstGeom prst="rightArrow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1920240"/>
            <a:ext cx="1691640" cy="20116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587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0" y="2029968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377440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DECIDE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2788920"/>
            <a:ext cx="1417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Human authoriser.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Findings written BACK to source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251960"/>
            <a:ext cx="11091672" cy="86868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222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440740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B91C1C"/>
                </a:solidFill>
                <a:latin typeface="Segoe UI"/>
              </a:rPr>
              <a:t>THE GATE:  an AI that invents a safety control has manufactured false assurance inside the one system built to prevent it.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So HOLDPOINT does not ask the model to be honest — it CHECKS. Programmatically. Anything it cannot trace is shown as UNVERIFIED, never as fact.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349240"/>
            <a:ext cx="11091672" cy="73152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222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4864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66534"/>
                </a:solidFill>
                <a:latin typeface="Segoe UI"/>
              </a:rPr>
              <a:t>HOLDPOINT never authorises anything. Its only job is to ensure a human cannot decide WITHOUT SEEING THIS.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64748B"/>
                </a:solidFill>
                <a:latin typeface="Segoe U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High-level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Five bands. The agent layer contains no industry logic.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0784"/>
            <a:ext cx="11091672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091672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856231"/>
            <a:ext cx="2743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64748B"/>
                </a:solidFill>
                <a:latin typeface="Segoe UI"/>
              </a:rPr>
              <a:t>1 — 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30552"/>
            <a:ext cx="3291840" cy="64008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24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2203704"/>
            <a:ext cx="30358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E40AF"/>
                </a:solidFill>
                <a:latin typeface="Segoe UI"/>
              </a:rPr>
              <a:t>System of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2459736"/>
            <a:ext cx="30358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Enablon · SAP WCM · Maximo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SIMULATED — no public vendor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2130552"/>
            <a:ext cx="3291840" cy="64008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5240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9976" y="2203704"/>
            <a:ext cx="30358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66534"/>
                </a:solidFill>
                <a:latin typeface="Segoe UI"/>
              </a:rPr>
              <a:t>The Real World — 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9976" y="2459736"/>
            <a:ext cx="30358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sunrise-sunset.org · weather.gov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Real sun + wind. No API key.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2130552"/>
            <a:ext cx="3703320" cy="640080"/>
          </a:xfrm>
          <a:prstGeom prst="roundRect">
            <a:avLst>
              <a:gd name="adj" fmla="val 6000"/>
            </a:avLst>
          </a:prstGeom>
          <a:solidFill>
            <a:srgbClr val="FAF5FF"/>
          </a:solidFill>
          <a:ln w="15240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54696" y="2203704"/>
            <a:ext cx="3447287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6B21A8"/>
                </a:solidFill>
                <a:latin typeface="Segoe UI"/>
              </a:rPr>
              <a:t>Knowledge Corpora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4696" y="2459736"/>
            <a:ext cx="344728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Site procedures · CSB/Cullen/ICMM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Industry packs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63240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77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127248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1">
                <a:solidFill>
                  <a:srgbClr val="0F172A"/>
                </a:solidFill>
                <a:latin typeface="Segoe UI"/>
              </a:rPr>
              <a:t>2 — NORMALISE   core/connectors.py: one canonical permit shape. Round-trip tested lossless (20/20).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A dropped field is a defect that LOOKS like a clean review.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03320"/>
            <a:ext cx="11091672" cy="105156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7780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767328"/>
            <a:ext cx="4572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64748B"/>
                </a:solidFill>
                <a:latin typeface="Segoe UI"/>
              </a:rPr>
              <a:t>3 — SEVEN ADVERSARIAL AGENTS (LangGraph)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069080"/>
            <a:ext cx="141732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3" y="420624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Supervisor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13432" y="4069080"/>
            <a:ext cx="141732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68296" y="420624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Scope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9624" y="4069080"/>
            <a:ext cx="141732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04487" y="420624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Hazards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85816" y="4069080"/>
            <a:ext cx="1417320" cy="56692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254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0679" y="420624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B91C1C"/>
                </a:solidFill>
                <a:latin typeface="Segoe UI"/>
              </a:rPr>
              <a:t>Hold Points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22007" y="4069080"/>
            <a:ext cx="141732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76871" y="420624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Competency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58200" y="4069080"/>
            <a:ext cx="141732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13064" y="420624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Isolation/SIMOPS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94392" y="4069080"/>
            <a:ext cx="141732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49256" y="4206240"/>
            <a:ext cx="1307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1">
                <a:solidFill>
                  <a:srgbClr val="0F172A"/>
                </a:solidFill>
                <a:latin typeface="Segoe UI"/>
              </a:rPr>
              <a:t>Precedent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864608"/>
            <a:ext cx="5440680" cy="86868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222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956048"/>
            <a:ext cx="51206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B91C1C"/>
                </a:solidFill>
                <a:latin typeface="Segoe UI"/>
              </a:rPr>
              <a:t>4a — PROVENANCE: a CODE check, not a prompt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Every claimed control must quote a real procedure, and the system verifies the quote exists. The model cannot talk its way past code.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9632" y="4864608"/>
            <a:ext cx="5440680" cy="86868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222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82512" y="4956048"/>
            <a:ext cx="51206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1">
                <a:solidFill>
                  <a:srgbClr val="166534"/>
                </a:solidFill>
                <a:latin typeface="Segoe UI"/>
              </a:rPr>
              <a:t>4b — HUMAN-IN-THE-LOOP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Stamped PENDING_HUMAN_AUTHORISATION. HOLDPOINT authorises nothing. Live-API facts bypass provenance — no model produced them.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833872"/>
            <a:ext cx="11091672" cy="4572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07024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5 — HUMAN AUTHORISER DECIDES   ·   findings written BACK to the system of record; permit set to HELD pending closeout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Editable SVG delivered separately: docs/HOLDPOINT_Architecture.svg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64748B"/>
                </a:solidFill>
                <a:latin typeface="Segoe UI"/>
              </a:rPr>
              <a:t>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How this stands out in the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We went looking for a reason not to build it. This is what survived.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0784"/>
            <a:ext cx="11091672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778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50292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What the incumbent already ships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Enablon (Wolters Kluwer) — “AI-powered Permit Advisor that checks description quality, and recommends hazards and controls.”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That is a DRAFTING COPILOT for the permit author. It helps you write a better permit.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73736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222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1874519"/>
            <a:ext cx="50292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300" b="1">
                <a:solidFill>
                  <a:srgbClr val="B91C1C"/>
                </a:solidFill>
                <a:latin typeface="Segoe UI"/>
              </a:rPr>
              <a:t>Why that would not have saved them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At Deer Park the description was not poor and the hazard was not missing. The stop-work instruction was ALREADY WRITTEN DOWN.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1">
                <a:solidFill>
                  <a:srgbClr val="0F172A"/>
                </a:solidFill>
                <a:latin typeface="Segoe UI"/>
              </a:rPr>
              <a:t>A tool that recommends hazards would have recommended one that was already listed.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49039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886200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Enablon helps you WRITE the permit. HOLDPOINT refuses to let a bad one THROUGH.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Segoe UI"/>
              </a:rPr>
              <a:t>They coexist. They are not the same product — and nobody is selling the adversary that stands at the gate and says no.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4632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4992624"/>
            <a:ext cx="3127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Provenance is CODE, not a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5413248"/>
            <a:ext cx="312724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The system verifies the model's citation against the real procedure. Unit-tested to reject a hallucinated control. The model cannot talk its way past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484632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424" y="4992624"/>
            <a:ext cx="3127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Facts it could not have hallucinated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5413248"/>
            <a:ext cx="312724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Live sun and wind decide whether a clause is satisfied. No model produced these — so they cannot be fabricated.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3296" y="484632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4992624"/>
            <a:ext cx="3127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It layers; it does not replace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5413248"/>
            <a:ext cx="3127248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Reads the permit out of Enablon/SAP/Maximo and writes findings back. No rip-and-replace — and it makes the incumbent a channel, not an enemy.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5508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Honest limit: features are not a moat — Enablon can build these. The durable advantages are the corpus, the provenance method, integration depth, and SPEED. This is a window, not a fortress.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64748B"/>
                </a:solidFill>
                <a:latin typeface="Segoe UI"/>
              </a:rPr>
              <a:t>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Why this survives contact with an operations budget — and with a regulator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0784"/>
            <a:ext cx="11091672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68112" cy="1325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929384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It has a HARD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350008"/>
            <a:ext cx="502920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Deloitte (Jan 2026): only 25% of enterprises move even 40% of AI pilots into production. Optional copilots die. A permit CANNOT BE ISSUED without passing through this gate. That is a line item, not an experiment.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7" y="1783080"/>
            <a:ext cx="5468112" cy="1325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929384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It sells to the COO, not the 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350008"/>
            <a:ext cx="502920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Operations budgets in refining and mining dwarf the discretionary AI innovation fund that most GenAI pilots die 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64408"/>
            <a:ext cx="5468112" cy="1325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3410712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Safety + throughput, not a trade-off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831336"/>
            <a:ext cx="502920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The permit desk is the safety chokepoint AND the schedule chokepoint. Pre-screening raises the quality of what the human sees AND shortens the queue. Safety funds it; Operations wants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7" y="3264408"/>
            <a:ext cx="5468112" cy="1325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3410712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Defensible in front of a regulator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3831336"/>
            <a:ext cx="502920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Every finding traces to a quoted procedure, verified in code. The human decision is preserved and recorded. This is what makes it deployable in a safety-critical setting at all.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45736"/>
            <a:ext cx="5468112" cy="1325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4892040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It is a trusted-SI purchase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5312664"/>
            <a:ext cx="502920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An agent that can block work in a refinery needs provenance, human-in-the-loop, auditability and someone accountable standing behind it. Clients will not buy that from a startup.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7" y="4745736"/>
            <a:ext cx="5468112" cy="1325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4892040"/>
            <a:ext cx="5029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Non-linear economics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312664"/>
            <a:ext cx="502920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The engine is built once; each new client is a domain pack plus an integration. The second client is far more profitable than the first, and the tenth more again.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64748B"/>
                </a:solidFill>
                <a:latin typeface="Segoe UI"/>
              </a:rPr>
              <a:t>COMMERCIALS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Financial model — Infosys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Every figure here is ILLUSTRATIVE and must be validated in discovery. None of it is a finding.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0784"/>
            <a:ext cx="11091672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091672" cy="566928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1">
                <a:solidFill>
                  <a:srgbClr val="B45309"/>
                </a:solidFill>
                <a:latin typeface="Segoe UI"/>
              </a:rPr>
              <a:t>READ THIS FIRST: these are ASSUMPTION PLACEHOLDERS, not measurements. A leadership deck is exactly where an unlabelled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assumption gets quoted back six months later as a commitment. What must be validated is listed at the bottom of this slide.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423160"/>
          <a:ext cx="667512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554480"/>
                <a:gridCol w="1828800"/>
              </a:tblGrid>
              <a:tr h="31089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Stage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Duration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Indicative revenue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Segoe UI"/>
                        </a:rPr>
                        <a:t>Discovery &amp; qualify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Segoe UI"/>
                        </a:rPr>
                        <a:t>4–6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Segoe UI"/>
                        </a:rPr>
                        <a:t>$150k – 250k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Segoe UI"/>
                        </a:rPr>
                        <a:t>Pilot (one unit / one turnaround)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Segoe UI"/>
                        </a:rPr>
                        <a:t>8–12 weeks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Segoe UI"/>
                        </a:rPr>
                        <a:t>$400k – 700k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Segoe UI"/>
                        </a:rPr>
                        <a:t>Production build +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Segoe UI"/>
                        </a:rPr>
                        <a:t>6–9 months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Segoe UI"/>
                        </a:rPr>
                        <a:t>$1.5M – 3M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Segoe UI"/>
                        </a:rPr>
                        <a:t>Site rollout (per additional site)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Segoe UI"/>
                        </a:rPr>
                        <a:t>per site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Segoe UI"/>
                        </a:rPr>
                        <a:t>$200k – 400k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Segoe UI"/>
                        </a:rPr>
                        <a:t>Managed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Segoe UI"/>
                        </a:rPr>
                        <a:t>annual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Segoe UI"/>
                        </a:rPr>
                        <a:t>$400k – 1M ARR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98079" y="2423160"/>
            <a:ext cx="4142232" cy="96012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587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17536" y="2569464"/>
            <a:ext cx="3703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E40AF"/>
                </a:solidFill>
                <a:latin typeface="Segoe UI"/>
              </a:rPr>
              <a:t>Anchor 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7536" y="2990088"/>
            <a:ext cx="37033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Segoe UI"/>
              </a:rPr>
              <a:t>~$3M – 6M over 2–3 years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520440"/>
            <a:ext cx="4142232" cy="1143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17536" y="3666744"/>
            <a:ext cx="3703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Portfolio (8–12 operators / 3 yrs)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7536" y="4087368"/>
            <a:ext cx="370332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~$25M – 60M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Arithmetic, NOT evidence — assumes a sales motion nobody has tested.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80560"/>
            <a:ext cx="6675120" cy="123444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587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4626864"/>
            <a:ext cx="62362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66534"/>
                </a:solidFill>
                <a:latin typeface="Segoe UI"/>
              </a:rPr>
              <a:t>Where the money really 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5047488"/>
            <a:ext cx="6236208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The AI build is often the SMALLER half. To make HOLDPOINT work you must integrate SAP WCM / Maximo, clean up contractor competency data, and connect isolation and asset records.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That pull-through is classic SI economics — and the AI is what justifies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4800600"/>
            <a:ext cx="4142232" cy="91440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587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17536" y="4946904"/>
            <a:ext cx="3703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B45309"/>
                </a:solidFill>
                <a:latin typeface="Segoe UI"/>
              </a:rPr>
              <a:t>MUST be validated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7536" y="5367528"/>
            <a:ext cx="370332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• What operators spend on control-of-work software today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• The cost of ONE day of turnaround delay — the number that turns safety into a CFO 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5508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We deliberately do NOT anchor value to headline penalty figures. Those penalties came from OPERATIONAL failures. HOLDPOINT does not prevent a wildfire or maintain a pipeline — claiming a share of them would be dishonest, and a sophisticated client audience would see through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64748B"/>
                </a:solidFill>
                <a:latin typeface="Segoe UI"/>
              </a:rPr>
              <a:t>EFFORT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Implementation effort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What exists today, and what a production deployment actually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0784"/>
            <a:ext cx="11091672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587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883664"/>
            <a:ext cx="50017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66534"/>
                </a:solidFill>
                <a:latin typeface="Segoe UI"/>
              </a:rPr>
              <a:t>Already built and 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304288"/>
            <a:ext cx="5001768" cy="11612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• 7 agents, 4 workflows — running end-to-end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• Provenance verifier — unit-tested to REJECT a hallucinated control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• 4 system-of-record connectors — 20/20 lossless round-trip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• 2 live external APIs — real sun and wind, cached, never fabricated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• 6 visuals, 3 industry packs, 15/15 page renders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• Evaluation harness — 5 gates, CI-ready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99632" y="1737360"/>
          <a:ext cx="544068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1280160"/>
                <a:gridCol w="1097280"/>
              </a:tblGrid>
              <a:tr h="3108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Phase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Elapsed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FTE-mo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0 — Harden + measure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2–3 wks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~0.7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1 — Real ingestion + persistence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10–14 wks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~11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2 — Trust: HITL, provenance, 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8–10 wks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~8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3 — Enterprise: SSO, RBAC, scale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10–12 wks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~8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4 — Each new industry pack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4–6 wks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475569"/>
                          </a:solidFill>
                          <a:latin typeface="Segoe UI"/>
                        </a:rPr>
                        <a:t>~2.5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3886200"/>
            <a:ext cx="11091672" cy="8686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04164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Production MVP for one industry (Phases 0–3):  ~7–9 months elapsed  ·  ~28 FTE-months  ·  indicative build $1.0–1.4M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CBD5E1"/>
                </a:solidFill>
                <a:latin typeface="Segoe UI"/>
              </a:rPr>
              <a:t>Each additional vertical thereafter: ~2.5 FTE-months. THAT is the reuse economics, and it is the strongest commercial argument here.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83480"/>
            <a:ext cx="11091672" cy="11887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5129784"/>
            <a:ext cx="10652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The biggest single work item — and it is not the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5550408"/>
            <a:ext cx="106527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Connectors. The API call is trivial; the work is that every operator has customised their WCM/Maximo schema, so there is no generic adapter. Real integration needs auth per tenant, versioned API surfaces with real field semantics, a field map signed off by a control-of-work SME, and — hardest of all — WRITE-BACK PERMISSIONS, because a system that can annotate or block a live safety record is privileged.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The first connector is weeks, not days. That is the honest number.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64748B"/>
                </a:solidFill>
                <a:latin typeface="Segoe UI"/>
              </a:rPr>
              <a:t>CREDIBILITY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1155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>
                <a:solidFill>
                  <a:srgbClr val="0F172A"/>
                </a:solidFill>
                <a:latin typeface="Segoe UI"/>
              </a:rPr>
              <a:t>What is proven — and what is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Stated before anyone has to ask. This is the slide that makes the rest believable.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00784"/>
            <a:ext cx="11091672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40680" cy="228600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1587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883664"/>
            <a:ext cx="50017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66534"/>
                </a:solidFill>
                <a:latin typeface="Segoe UI"/>
              </a:rPr>
              <a:t>Verified by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304288"/>
            <a:ext cx="5001768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• Provenance verifier REJECTS a hallucinated control, a paraphrase, and an empty citation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• The scanner finds the Deer Park permit AND does not false-positive the clean one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• Connector round-trip lossless: 20/20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• Assurance web calibrated: clean permit = 0 broken links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• Live APIs return real data; darkness overlap computes correctly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• 15/15 page renders; the agents run end-to-end and return a coherent REJECT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737360"/>
            <a:ext cx="5440680" cy="228600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5875">
            <a:solidFill>
              <a:srgbClr val="FCD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883664"/>
            <a:ext cx="500176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B45309"/>
                </a:solidFill>
                <a:latin typeface="Segoe UI"/>
              </a:rPr>
              <a:t>NOT yet measured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304288"/>
            <a:ext cx="5001768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Running the agents once is an ANECDOTE, not evidence.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The evaluation harness exists but has not been run. Until it comes back green, agent quality is OBSERVED, not MEASURED — including the REJECT above.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Open: the competitive scan is incomplete (Cority, Avetta, ISN, Honeywell, SAP were never checked).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06240"/>
            <a:ext cx="11091672" cy="196596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222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 b="1">
                <a:solidFill>
                  <a:srgbClr val="B91C1C"/>
                </a:solidFill>
                <a:latin typeface="Segoe UI"/>
              </a:rPr>
              <a:t>What HOLDPOINT will NOT do — we say this first, not when challenged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•  It would NOT have prevented the Deer Park ROOT cause. The CSB found the root cause was failure to positively identify the correct equipment — the workers opened a near-identical flange five feet away. The permit deficiencies were CONTRIBUTING factors.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•  It addresses a MINORITY of the harm. ICMM's largest fatal cause in mining is mobile-equipment interaction — remedied by proximity detection and LiDAR, not by us.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•  Utilities is a HYPOTHESIS. Refining and mining rest on verified evidence. Utilities does not, and the product labels it as such on screen.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64748B"/>
                </a:solidFill>
                <a:latin typeface="Segoe UI"/>
              </a:rPr>
              <a:t>Owning the boundary makes every other claim more believable, not less — and it is the only position that survives Q&amp;A with people who know these industries.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The 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63040"/>
            <a:ext cx="3108960" cy="457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CBD5E1"/>
                </a:solidFill>
                <a:latin typeface="Segoe UI"/>
              </a:rPr>
              <a:t>Do not pitch a platform. Pitch one narrow, falsifiable proof.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88920"/>
            <a:ext cx="10515600" cy="1005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907791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QUALIFY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22783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weeks 0–2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971800"/>
            <a:ext cx="8138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Segoe UI"/>
              </a:rPr>
              <a:t>Discovery with HSE, Operations and Turnaround. Size the value with the client's OWN numbers — what does one day of turnaround delay cost?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31920"/>
            <a:ext cx="10515600" cy="1005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50791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370831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weeks 2–8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114800"/>
            <a:ext cx="8138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Segoe UI"/>
              </a:rPr>
              <a:t>One audit-grade pilot. Load the real permits and the real procedures for one unit. Run HOLDPOINT over permits that were ALREADY authorised, worked and closed.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074920"/>
            <a:ext cx="10515600" cy="100584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19379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EXPAND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513831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post-pilot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5257800"/>
            <a:ext cx="8138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CBD5E1"/>
                </a:solidFill>
                <a:latin typeface="Segoe UI"/>
              </a:rPr>
              <a:t>Only if the pilot clears the bar: live ingestion, span-level provenance, the review workflow, persistence.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6263640"/>
            <a:ext cx="10515600" cy="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FCA5A5"/>
                </a:solidFill>
                <a:latin typeface="Segoe UI"/>
              </a:rPr>
              <a:t>The pilot is designed so that it CAN FAIL: if HOLDPOINT surfaces nothing the team did not already know, the business case is not proven — and we say so.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